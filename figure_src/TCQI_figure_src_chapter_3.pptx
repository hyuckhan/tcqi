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062599ebdf4c10" /><Relationship Type="http://schemas.openxmlformats.org/officeDocument/2006/relationships/extended-properties" Target="/docProps/app.xml" Id="R0026528e83d64b3b" /><Relationship Type="http://schemas.openxmlformats.org/officeDocument/2006/relationships/officeDocument" Target="/ppt/presentation.xml" Id="Rb8870769fd8c47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00845177924127"/>
  </p:sldMasterIdLst>
  <p:notesMasterIdLst>
    <p:notesMasterId xmlns:r="http://schemas.openxmlformats.org/officeDocument/2006/relationships" r:id="Rc285ef9de3eb4c22"/>
  </p:notesMasterIdLst>
  <p:sldIdLst>
    <p:sldId xmlns:r="http://schemas.openxmlformats.org/officeDocument/2006/relationships" id="256" r:id="Re19e6c335ecd41a2"/>
    <p:sldId xmlns:r="http://schemas.openxmlformats.org/officeDocument/2006/relationships" id="257" r:id="Ra78948b955ca4ef5"/>
    <p:sldId xmlns:r="http://schemas.openxmlformats.org/officeDocument/2006/relationships" id="258" r:id="Rbca409ae62094187"/>
    <p:sldId xmlns:r="http://schemas.openxmlformats.org/officeDocument/2006/relationships" id="259" r:id="Ra5fbe67dd14440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89f62d19ee4226" /><Relationship Type="http://schemas.openxmlformats.org/officeDocument/2006/relationships/slideMaster" Target="/ppt/slideMasters/slideMaster1.xml" Id="Ra600845177924127" /><Relationship Type="http://schemas.openxmlformats.org/officeDocument/2006/relationships/notesMaster" Target="/ppt/notesMasters/notesMaster1.xml" Id="Rc285ef9de3eb4c22" /><Relationship Type="http://schemas.openxmlformats.org/officeDocument/2006/relationships/presProps" Target="/ppt/presProps.xml" Id="R355054d98c5a4da8" /><Relationship Type="http://schemas.openxmlformats.org/officeDocument/2006/relationships/tableStyles" Target="/ppt/tableStyles.xml" Id="Raee996a8b0d3470b" /><Relationship Type="http://schemas.openxmlformats.org/officeDocument/2006/relationships/slide" Target="/ppt/slides/slide1.xml" Id="Re19e6c335ecd41a2" /><Relationship Type="http://schemas.openxmlformats.org/officeDocument/2006/relationships/slide" Target="/ppt/slides/slide2.xml" Id="Ra78948b955ca4ef5" /><Relationship Type="http://schemas.openxmlformats.org/officeDocument/2006/relationships/slide" Target="/ppt/slides/slide3.xml" Id="Rbca409ae62094187" /><Relationship Type="http://schemas.openxmlformats.org/officeDocument/2006/relationships/slide" Target="/ppt/slides/slide4.xml" Id="Ra5fbe67dd14440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484807470446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0ea608c4544d6c" /><Relationship Type="http://schemas.openxmlformats.org/officeDocument/2006/relationships/notesMaster" Target="/ppt/notesMasters/notesMaster1.xml" Id="Rd804b015631a43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ad0d838d4f4685" /><Relationship Type="http://schemas.openxmlformats.org/officeDocument/2006/relationships/notesMaster" Target="/ppt/notesMasters/notesMaster1.xml" Id="R845b4f96f70b4b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346cae88444784" /><Relationship Type="http://schemas.openxmlformats.org/officeDocument/2006/relationships/notesMaster" Target="/ppt/notesMasters/notesMaster1.xml" Id="R9bff3c0fed814e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72301435824c7b" /><Relationship Type="http://schemas.openxmlformats.org/officeDocument/2006/relationships/notesMaster" Target="/ppt/notesMasters/notesMaster1.xml" Id="R46b6b496e82b4f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연구 동향을 바탕으로 한 본 보고서의 개념도. 교과의 학습 기반과 시스템 구현의 연결을 나타낸다. 전공 간 배타적인 영역 구분이나 확정된 교육과정은 아니다.</a:t>
            </a:r>
          </a:p>
          <a:p xmlns:a="http://schemas.openxmlformats.org/drawingml/2006/main">
            <a:r>
              <a:t>출처: ACM/IEEE-CS/AAAI, Computer Science Curricula 2023, Generative AI and the Curriculum (2024): https://csed.acm.org/wp-content/uploads/2024/04/4.3-Generative-AI-and-the-Curriculum.pdf</a:t>
            </a:r>
          </a:p>
          <a:p xmlns:a="http://schemas.openxmlformats.org/drawingml/2006/main">
            <a:r>
              <a:t>PagedAttention (SOSP 2023): https://arxiv.org/abs/2309.06180</a:t>
            </a:r>
          </a:p>
          <a:p xmlns:a="http://schemas.openxmlformats.org/drawingml/2006/main">
            <a:r>
              <a:t>DistServe (OSDI 2024): https://www.usenix.org/conference/osdi24/presentation/zhong-yinmin</a:t>
            </a:r>
          </a:p>
          <a:p xmlns:a="http://schemas.openxmlformats.org/drawingml/2006/main">
            <a:r>
              <a:t>교과 기반: 사용자가 제공한 컴퓨터학전공 대학요람.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연구 동향을 바탕으로 한 본 보고서의 협력 제안. 신설·전환 전공의 구체적 교과와 역할은 학내 협의를 통해 조정한다. 제시한 역할은 배타적 구분이 아니다.</a:t>
            </a:r>
          </a:p>
          <a:p xmlns:a="http://schemas.openxmlformats.org/drawingml/2006/main">
            <a:r>
              <a:t>전자공학: Fast On-device LLM Inference with NPUs (ASPLOS 2025), https://arxiv.org/html/2407.05858v2</a:t>
            </a:r>
          </a:p>
          <a:p xmlns:a="http://schemas.openxmlformats.org/drawingml/2006/main">
            <a:r>
              <a:t>기계공학: RT-2 (CoRL 2023), https://proceedings.mlr.press/v229/zitkovich23a.html</a:t>
            </a:r>
          </a:p>
          <a:p xmlns:a="http://schemas.openxmlformats.org/drawingml/2006/main">
            <a:r>
              <a:t>화학공학: A knowledge graph framework for digital twins of chemical processes (2026), https://www.nature.com/articles/s44286-026-00392-1</a:t>
            </a:r>
          </a:p>
          <a:p xmlns:a="http://schemas.openxmlformats.org/drawingml/2006/main">
            <a:r>
              <a:t>데이터사이언스: Self-RAG (ICLR 2024), https://proceedings.iclr.cc/paper_files/paper/2024/hash/25f7be9694d7b32d5cc670927b8091e1-Abstract-Conference.html</a:t>
            </a:r>
          </a:p>
          <a:p xmlns:a="http://schemas.openxmlformats.org/drawingml/2006/main">
            <a:r>
              <a:t>HCI: Appropriate Reliance on Generative AI: Research Synthesis (2024), https://www.microsoft.com/en-us/research/publication/appropriate-reliance-on-generative-ai-research-synthesis/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연구 동향을 바탕으로 한 본 보고서의 단계적 교육 개편 제안. 2029년은 사용자가 제시한 신설 계획을 전제로 한 시점이며 확정된 시행일이나 달성 실적이 아니다. 다섯 전공 전체의 신설 연도가 2029년이라고 주장하는 그림이 아니다. 공통 기초교육과 학생 개인의 이해·검증 역량 평가는 양 단계에 걸쳐 유지한다.</a:t>
            </a:r>
          </a:p>
          <a:p xmlns:a="http://schemas.openxmlformats.org/drawingml/2006/main">
            <a:r>
              <a:t>교육적 근거: ACM/IEEE-CS/AAAI, Computer Science Curricula 2023, Generative AI and the Curriculum (2024), https://csed.acm.org/wp-content/uploads/2024/04/4.3-Generative-AI-and-the-Curriculum.pdf</a:t>
            </a:r>
          </a:p>
          <a:p xmlns:a="http://schemas.openxmlformats.org/drawingml/2006/main">
            <a:r>
              <a:t>SWE-bench (ICLR 2024), https://proceedings.iclr.cc/paper_files/paper/2024/hash/edac78c3e300629acfe6cbe9ca88fb84-Abstract-Conference.html</a:t>
            </a:r>
          </a:p>
          <a:p xmlns:a="http://schemas.openxmlformats.org/drawingml/2006/main">
            <a:r>
              <a:t>단계 구분과 신설 계획: 사용자와 사전에 논의한 전공 발전 구상.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연구 동향을 바탕으로 한 본 보고서의 개념도. 구현 후 운영 데이터를 수집하고 데이터·모델·서비스 구성을 수정하는 반복을 나타낸다. 모든 AI 서비스가 동일한 구조를 가진다는 뜻은 아니다.</a:t>
            </a:r>
          </a:p>
          <a:p xmlns:a="http://schemas.openxmlformats.org/drawingml/2006/main">
            <a:r>
              <a:t>Self-RAG (ICLR 2024), https://proceedings.iclr.cc/paper_files/paper/2024/hash/25f7be9694d7b32d5cc670927b8091e1-Abstract-Conference.html</a:t>
            </a:r>
          </a:p>
          <a:p xmlns:a="http://schemas.openxmlformats.org/drawingml/2006/main">
            <a:r>
              <a:t>DistServe (OSDI 2024), https://www.usenix.org/conference/osdi24/presentation/zhong-yinmin</a:t>
            </a:r>
          </a:p>
          <a:p xmlns:a="http://schemas.openxmlformats.org/drawingml/2006/main">
            <a:r>
              <a:t>NIST AI 600-1, Generative Artificial Intelligence Profile (2024), https://nvlpubs.nist.gov/nistpubs/ai/NIST.AI.600-1.pdf</a:t>
            </a:r>
          </a:p>
          <a:p xmlns:a="http://schemas.openxmlformats.org/drawingml/2006/main">
            <a:r>
              <a:t>HCI 적절한 의존: https://www.microsoft.com/en-us/research/publication/appropriate-reliance-on-generative-ai-research-synthesis/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397cb98dfa405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13c1c2a6b4e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00500000149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e8bf65d5a44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d3a9f8dac4a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45f4f91f24c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7DA635-0A67-4575-8350-A750549342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C844CE-D8FC-4303-89F4-AA9539ECAE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B1E5EF4-8CCA-4FFA-9335-08F5ECAFD3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125AEF-8825-4F8A-A468-4E9F5B1DA6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5D6493-C563-4798-901C-FB965F8FDB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A4FA242-AAFE-4EE8-9D0D-8F4F251C78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F6589A-57D8-4699-994C-B2AD561937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5584F7E-5A39-47F6-9D59-E1DC2CC51B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70CF63-8F0C-43D1-BBA2-FB60E2DFEA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B2F8AF-6804-44C7-99C5-4AB71A93E9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3174ef123d4b49" /><Relationship Type="http://schemas.openxmlformats.org/officeDocument/2006/relationships/slideLayout" Target="/ppt/slideLayouts/slideLayout1.xml" Id="R233df9e82c924d6f" /><Relationship Type="http://schemas.openxmlformats.org/officeDocument/2006/relationships/slideLayout" Target="/ppt/slideLayouts/slideLayout2.xml" Id="R78cb72f738794751" /><Relationship Type="http://schemas.openxmlformats.org/officeDocument/2006/relationships/slideLayout" Target="/ppt/slideLayouts/slideLayout3.xml" Id="Rfdeea65a26194d96" /><Relationship Type="http://schemas.openxmlformats.org/officeDocument/2006/relationships/slideLayout" Target="/ppt/slideLayouts/slideLayout4.xml" Id="R7ac2f2b5cfc74540" /><Relationship Type="http://schemas.openxmlformats.org/officeDocument/2006/relationships/slideLayout" Target="/ppt/slideLayouts/slideLayout5.xml" Id="Rff38c975ef9843d0" /><Relationship Type="http://schemas.openxmlformats.org/officeDocument/2006/relationships/slideLayout" Target="/ppt/slideLayouts/slideLayout6.xml" Id="Rb5688ebf756c41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3df9e82c924d6f"/>
    <p:sldLayoutId xmlns:r="http://schemas.openxmlformats.org/officeDocument/2006/relationships" id="2147483650" r:id="R78cb72f738794751"/>
    <p:sldLayoutId xmlns:r="http://schemas.openxmlformats.org/officeDocument/2006/relationships" id="2147483651" r:id="Rfdeea65a26194d96"/>
    <p:sldLayoutId xmlns:r="http://schemas.openxmlformats.org/officeDocument/2006/relationships" id="2147483652" r:id="R7ac2f2b5cfc74540"/>
    <p:sldLayoutId xmlns:r="http://schemas.openxmlformats.org/officeDocument/2006/relationships" id="2147483653" r:id="Rff38c975ef9843d0"/>
    <p:sldLayoutId xmlns:r="http://schemas.openxmlformats.org/officeDocument/2006/relationships" id="2147483654" r:id="Rb5688ebf756c41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0fc309b61e4ae9" /><Relationship Type="http://schemas.openxmlformats.org/officeDocument/2006/relationships/notesSlide" Target="/ppt/notesSlides/notesSlide1.xml" Id="R097b9c03a8b546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ea8b9b7ef745f3" /><Relationship Type="http://schemas.openxmlformats.org/officeDocument/2006/relationships/notesSlide" Target="/ppt/notesSlides/notesSlide2.xml" Id="R2a0c7f86d5cb4c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d9a1789b594e8b" /><Relationship Type="http://schemas.openxmlformats.org/officeDocument/2006/relationships/notesSlide" Target="/ppt/notesSlides/notesSlide3.xml" Id="Rebefaa63453e43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1ffc3df44e4cc1" /><Relationship Type="http://schemas.openxmlformats.org/officeDocument/2006/relationships/notesSlide" Target="/ppt/notesSlides/notesSlide4.xml" Id="Rb0e3e399060f47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/>
          <p:cNvCxnSpPr>
            <a:stCxn xmlns:a="http://schemas.openxmlformats.org/drawingml/2006/main" id="9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4857750" y="227647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F8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12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4857750" y="359092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F8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3" name=""/>
          <p:cNvCxnSpPr>
            <a:stCxn xmlns:a="http://schemas.openxmlformats.org/drawingml/2006/main" id="15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857750" y="4810125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F82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5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FF299702-438B-4199-AE35-DD09FD92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그림 3-1. 컴퓨터학의 학문 체계와 AI 시스템</a:t>
            </a:r>
          </a:p>
        </p:txBody>
      </p:sp>
      <p:sp>
        <p:nvSpPr>
          <p:cNvPr id="6" name="applications">
            <a:extLst xmlns:a="http://schemas.openxmlformats.org/drawingml/2006/main">
              <a:ext uri="{FF2B5EF4-FFF2-40B4-BE49-F238E27FC236}">
                <a16:creationId xmlns:a16="http://schemas.microsoft.com/office/drawing/2014/main" id="{E8EA8566-0157-4CDE-8217-A81E5896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8229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93ABB7"/>
            </a:solidFill>
            <a:prstDash val="solid"/>
          </a:ln>
        </p:spPr>
      </p:sp>
      <p:sp>
        <p:nvSpPr>
          <p:cNvPr id="7" name="applications-label">
            <a:extLst xmlns:a="http://schemas.openxmlformats.org/drawingml/2006/main">
              <a:ext uri="{FF2B5EF4-FFF2-40B4-BE49-F238E27FC236}">
                <a16:creationId xmlns:a16="http://schemas.microsoft.com/office/drawing/2014/main" id="{FAEDFD58-647D-4D65-8A51-98B08EC6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59067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응용 분야</a:t>
            </a:r>
          </a:p>
        </p:txBody>
      </p:sp>
      <p:sp>
        <p:nvSpPr>
          <p:cNvPr id="8" name="applications-body">
            <a:extLst xmlns:a="http://schemas.openxmlformats.org/drawingml/2006/main">
              <a:ext uri="{FF2B5EF4-FFF2-40B4-BE49-F238E27FC236}">
                <a16:creationId xmlns:a16="http://schemas.microsoft.com/office/drawing/2014/main" id="{3B5FDD0C-F792-445E-BB2C-E9F052A9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53352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웹·모바일 서비스, 데이터 활용, 융합기기</a:t>
            </a:r>
          </a:p>
        </p:txBody>
      </p:sp>
      <p:sp>
        <p:nvSpPr>
          <p:cNvPr id="9" name="ai-services">
            <a:extLst xmlns:a="http://schemas.openxmlformats.org/drawingml/2006/main">
              <a:ext uri="{FF2B5EF4-FFF2-40B4-BE49-F238E27FC236}">
                <a16:creationId xmlns:a16="http://schemas.microsoft.com/office/drawing/2014/main" id="{7BBC3B33-F61F-46F6-BBC0-D0DBEAC1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8229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23813">
            <a:solidFill>
              <a:srgbClr val="007F82"/>
            </a:solidFill>
            <a:prstDash val="solid"/>
          </a:ln>
        </p:spPr>
      </p:sp>
      <p:sp>
        <p:nvSpPr>
          <p:cNvPr id="10" name="ai-services-label">
            <a:extLst xmlns:a="http://schemas.openxmlformats.org/drawingml/2006/main">
              <a:ext uri="{FF2B5EF4-FFF2-40B4-BE49-F238E27FC236}">
                <a16:creationId xmlns:a16="http://schemas.microsoft.com/office/drawing/2014/main" id="{1EE6C908-CB4E-4DB3-85A3-6EB4FB00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09875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AI 서비스</a:t>
            </a:r>
          </a:p>
        </p:txBody>
      </p:sp>
      <p:sp>
        <p:nvSpPr>
          <p:cNvPr id="11" name="ai-services-body">
            <a:extLst xmlns:a="http://schemas.openxmlformats.org/drawingml/2006/main">
              <a:ext uri="{FF2B5EF4-FFF2-40B4-BE49-F238E27FC236}">
                <a16:creationId xmlns:a16="http://schemas.microsoft.com/office/drawing/2014/main" id="{9D799DE0-C854-4260-9AB2-FAC5DEE3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52725"/>
            <a:ext cx="561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구현·배포·운영</a:t>
            </a:r>
          </a:p>
        </p:txBody>
      </p:sp>
      <p:sp>
        <p:nvSpPr>
          <p:cNvPr id="12" name="systems">
            <a:extLst xmlns:a="http://schemas.openxmlformats.org/drawingml/2006/main">
              <a:ext uri="{FF2B5EF4-FFF2-40B4-BE49-F238E27FC236}">
                <a16:creationId xmlns:a16="http://schemas.microsoft.com/office/drawing/2014/main" id="{A7F7F22D-9446-427C-BD67-4D1396BB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8229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93ABB7"/>
            </a:solidFill>
            <a:prstDash val="solid"/>
          </a:ln>
        </p:spPr>
      </p:sp>
      <p:sp>
        <p:nvSpPr>
          <p:cNvPr id="13" name="systems-label">
            <a:extLst xmlns:a="http://schemas.openxmlformats.org/drawingml/2006/main">
              <a:ext uri="{FF2B5EF4-FFF2-40B4-BE49-F238E27FC236}">
                <a16:creationId xmlns:a16="http://schemas.microsoft.com/office/drawing/2014/main" id="{353F1415-E518-41A1-8CE9-EBD017A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2432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시스템</a:t>
            </a:r>
          </a:p>
        </p:txBody>
      </p:sp>
      <p:sp>
        <p:nvSpPr>
          <p:cNvPr id="14" name="systems-body">
            <a:extLst xmlns:a="http://schemas.openxmlformats.org/drawingml/2006/main">
              <a:ext uri="{FF2B5EF4-FFF2-40B4-BE49-F238E27FC236}">
                <a16:creationId xmlns:a16="http://schemas.microsoft.com/office/drawing/2014/main" id="{5F93F5E9-33B8-463F-B477-B107A60B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06717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컴퓨터구조, 운영체제, 데이터베이스,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네트워크, 보안</a:t>
            </a:r>
          </a:p>
        </p:txBody>
      </p:sp>
      <p:sp>
        <p:nvSpPr>
          <p:cNvPr id="15" name="foundations">
            <a:extLst xmlns:a="http://schemas.openxmlformats.org/drawingml/2006/main">
              <a:ext uri="{FF2B5EF4-FFF2-40B4-BE49-F238E27FC236}">
                <a16:creationId xmlns:a16="http://schemas.microsoft.com/office/drawing/2014/main" id="{4670AC32-01F3-4006-81DE-92ACC454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33975"/>
            <a:ext cx="8229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93ABB7"/>
            </a:solidFill>
            <a:prstDash val="solid"/>
          </a:ln>
        </p:spPr>
      </p:sp>
      <p:sp>
        <p:nvSpPr>
          <p:cNvPr id="16" name="foundations-label">
            <a:extLst xmlns:a="http://schemas.openxmlformats.org/drawingml/2006/main">
              <a:ext uri="{FF2B5EF4-FFF2-40B4-BE49-F238E27FC236}">
                <a16:creationId xmlns:a16="http://schemas.microsoft.com/office/drawing/2014/main" id="{5A5E8366-59A0-4D14-ACEF-37B9CC51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343525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공통 기초</a:t>
            </a:r>
          </a:p>
        </p:txBody>
      </p:sp>
      <p:sp>
        <p:nvSpPr>
          <p:cNvPr id="17" name="foundations-body">
            <a:extLst xmlns:a="http://schemas.openxmlformats.org/drawingml/2006/main">
              <a:ext uri="{FF2B5EF4-FFF2-40B4-BE49-F238E27FC236}">
                <a16:creationId xmlns:a16="http://schemas.microsoft.com/office/drawing/2014/main" id="{E6E714A5-C63D-4369-A4FB-7CD51B7D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28637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875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프로그래밍, 자료구조, 알고리즘, 수학</a:t>
            </a:r>
          </a:p>
        </p:txBody>
      </p:sp>
      <p:sp>
        <p:nvSpPr>
          <p:cNvPr id="18" name="quality-rail">
            <a:extLst xmlns:a="http://schemas.openxmlformats.org/drawingml/2006/main">
              <a:ext uri="{FF2B5EF4-FFF2-40B4-BE49-F238E27FC236}">
                <a16:creationId xmlns:a16="http://schemas.microsoft.com/office/drawing/2014/main" id="{E607353B-98CC-45F3-B766-E38D0D22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81125"/>
            <a:ext cx="2190750" cy="464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07F82"/>
            </a:solidFill>
            <a:prstDash val="solid"/>
          </a:ln>
        </p:spPr>
      </p:sp>
      <p:sp>
        <p:nvSpPr>
          <p:cNvPr id="19" name="quality-heading">
            <a:extLst xmlns:a="http://schemas.openxmlformats.org/drawingml/2006/main">
              <a:ext uri="{FF2B5EF4-FFF2-40B4-BE49-F238E27FC236}">
                <a16:creationId xmlns:a16="http://schemas.microsoft.com/office/drawing/2014/main" id="{4DADD200-F25C-434D-ABB2-0A31F3FE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21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21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21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21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21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21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21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21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21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007F82"/>
                </a:solidFill>
                <a:latin typeface="NanumGothic"/>
                <a:ea typeface="NanumGothic"/>
                <a:cs typeface="NanumGothic"/>
              </a:rPr>
              <a:t>전 과정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007F82"/>
                </a:solidFill>
                <a:latin typeface="NanumGothic"/>
                <a:ea typeface="NanumGothic"/>
                <a:cs typeface="NanumGothic"/>
              </a:rPr>
              <a:t>평가 관점</a:t>
            </a:r>
          </a:p>
        </p:txBody>
      </p:sp>
      <p:sp>
        <p:nvSpPr>
          <p:cNvPr id="20" name="quality-items">
            <a:extLst xmlns:a="http://schemas.openxmlformats.org/drawingml/2006/main">
              <a:ext uri="{FF2B5EF4-FFF2-40B4-BE49-F238E27FC236}">
                <a16:creationId xmlns:a16="http://schemas.microsoft.com/office/drawing/2014/main" id="{A7294ED9-EB44-475B-B296-184D32DD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18097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정확성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성능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보안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사용성</a:t>
            </a:r>
          </a:p>
        </p:txBody>
      </p:sp>
    </p:spTree>
    <p:extLst>
      <p:ext uri="{BB962C8B-B14F-4D97-AF65-F5344CB8AC3E}">
        <p14:creationId xmlns:p14="http://schemas.microsoft.com/office/powerpoint/2010/main" val="1658709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/>
          <p:cNvCxnSpPr>
            <a:stCxn xmlns:a="http://schemas.openxmlformats.org/drawingml/2006/main" id="23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7905750" y="3448050"/>
            <a:ext cx="857250" cy="1042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7F82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20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905750" y="2681288"/>
            <a:ext cx="857250" cy="766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7F82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429000" y="3448050"/>
            <a:ext cx="857250" cy="1633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7F82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1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429000" y="3448050"/>
            <a:ext cx="857250" cy="428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7F82"/>
            </a:solidFill>
            <a:prstDash val="solid"/>
            <a:headEnd type="triangle" w="med" len="med"/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29000" y="1900238"/>
            <a:ext cx="857250" cy="1547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7F82"/>
            </a:solidFill>
            <a:prstDash val="solid"/>
            <a:headEnd type="triangle" w="med" len="med"/>
            <a:tailEnd type="triangle" w="med" len="med"/>
          </a:ln>
        </p:spPr>
      </p:cxnSp>
      <p:sp>
        <p:nvSpPr>
          <p:cNvPr id="7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EAEED719-340A-426D-BB6F-AE64B6F4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그림 3-2. 다섯 전공과의 소프트웨어 협력 구조</a:t>
            </a:r>
          </a:p>
        </p:txBody>
      </p:sp>
      <p:sp>
        <p:nvSpPr>
          <p:cNvPr id="8" name="cs-core">
            <a:extLst xmlns:a="http://schemas.openxmlformats.org/drawingml/2006/main">
              <a:ext uri="{FF2B5EF4-FFF2-40B4-BE49-F238E27FC236}">
                <a16:creationId xmlns:a16="http://schemas.microsoft.com/office/drawing/2014/main" id="{B875F52C-6DC6-4080-A85C-E728DAE7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36195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23813">
            <a:solidFill>
              <a:srgbClr val="007F82"/>
            </a:solidFill>
            <a:prstDash val="solid"/>
          </a:ln>
        </p:spPr>
      </p:sp>
      <p:sp>
        <p:nvSpPr>
          <p:cNvPr id="9" name="cs-title">
            <a:extLst xmlns:a="http://schemas.openxmlformats.org/drawingml/2006/main">
              <a:ext uri="{FF2B5EF4-FFF2-40B4-BE49-F238E27FC236}">
                <a16:creationId xmlns:a16="http://schemas.microsoft.com/office/drawing/2014/main" id="{93468D4A-21BD-464F-806B-2D666AAF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860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24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24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24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24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24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24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24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24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24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24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47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컴퓨터학</a:t>
            </a:r>
          </a:p>
        </p:txBody>
      </p:sp>
      <p:sp>
        <p:nvSpPr>
          <p:cNvPr id="10" name="cs-role">
            <a:extLst xmlns:a="http://schemas.openxmlformats.org/drawingml/2006/main">
              <a:ext uri="{FF2B5EF4-FFF2-40B4-BE49-F238E27FC236}">
                <a16:creationId xmlns:a16="http://schemas.microsoft.com/office/drawing/2014/main" id="{ABB31157-A16F-4DAA-A3B9-7A64A950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52750"/>
            <a:ext cx="3143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1950" b="0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1950" b="0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1950" b="0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1950" b="0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1950" b="0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1950" b="0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1950" b="0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1950" b="0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1950" b="0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1950" b="0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1950" b="0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데이터 처리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950" b="0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1950" b="0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모델·프로그램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950" b="0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1950" b="0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서비스 통합·운영</a:t>
            </a:r>
          </a:p>
        </p:txBody>
      </p:sp>
      <p:sp>
        <p:nvSpPr>
          <p:cNvPr id="11" name="electronics">
            <a:extLst xmlns:a="http://schemas.openxmlformats.org/drawingml/2006/main">
              <a:ext uri="{FF2B5EF4-FFF2-40B4-BE49-F238E27FC236}">
                <a16:creationId xmlns:a16="http://schemas.microsoft.com/office/drawing/2014/main" id="{059F2639-4505-479B-B1C3-16FFB2C7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28575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93ABB7"/>
            </a:solidFill>
            <a:prstDash val="solid"/>
          </a:ln>
        </p:spPr>
      </p:sp>
      <p:sp>
        <p:nvSpPr>
          <p:cNvPr id="12" name="electronics-label">
            <a:extLst xmlns:a="http://schemas.openxmlformats.org/drawingml/2006/main">
              <a:ext uri="{FF2B5EF4-FFF2-40B4-BE49-F238E27FC236}">
                <a16:creationId xmlns:a16="http://schemas.microsoft.com/office/drawing/2014/main" id="{BE2E51AF-1068-49B0-B36C-8CC80866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전자공학</a:t>
            </a:r>
          </a:p>
        </p:txBody>
      </p:sp>
      <p:sp>
        <p:nvSpPr>
          <p:cNvPr id="13" name="electronics-body">
            <a:extLst xmlns:a="http://schemas.openxmlformats.org/drawingml/2006/main">
              <a:ext uri="{FF2B5EF4-FFF2-40B4-BE49-F238E27FC236}">
                <a16:creationId xmlns:a16="http://schemas.microsoft.com/office/drawing/2014/main" id="{FEDC4E0E-F83A-478F-A25C-6F17BFE4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가속기·임베디드</a:t>
            </a:r>
          </a:p>
        </p:txBody>
      </p:sp>
      <p:sp>
        <p:nvSpPr>
          <p:cNvPr id="14" name="mechanical">
            <a:extLst xmlns:a="http://schemas.openxmlformats.org/drawingml/2006/main">
              <a:ext uri="{FF2B5EF4-FFF2-40B4-BE49-F238E27FC236}">
                <a16:creationId xmlns:a16="http://schemas.microsoft.com/office/drawing/2014/main" id="{864C27EA-8503-448D-B88D-608FE971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8575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93ABB7"/>
            </a:solidFill>
            <a:prstDash val="solid"/>
          </a:ln>
        </p:spPr>
      </p:sp>
      <p:sp>
        <p:nvSpPr>
          <p:cNvPr id="15" name="mechanical-label">
            <a:extLst xmlns:a="http://schemas.openxmlformats.org/drawingml/2006/main">
              <a:ext uri="{FF2B5EF4-FFF2-40B4-BE49-F238E27FC236}">
                <a16:creationId xmlns:a16="http://schemas.microsoft.com/office/drawing/2014/main" id="{E4311AC9-D981-4011-922D-1072915D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14675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기계공학</a:t>
            </a:r>
          </a:p>
        </p:txBody>
      </p:sp>
      <p:sp>
        <p:nvSpPr>
          <p:cNvPr id="16" name="mechanical-body">
            <a:extLst xmlns:a="http://schemas.openxmlformats.org/drawingml/2006/main">
              <a:ext uri="{FF2B5EF4-FFF2-40B4-BE49-F238E27FC236}">
                <a16:creationId xmlns:a16="http://schemas.microsoft.com/office/drawing/2014/main" id="{A0D1B3F6-0540-4973-85C3-B005D31B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센서·로봇</a:t>
            </a:r>
          </a:p>
        </p:txBody>
      </p:sp>
      <p:sp>
        <p:nvSpPr>
          <p:cNvPr id="17" name="chemical">
            <a:extLst xmlns:a="http://schemas.openxmlformats.org/drawingml/2006/main">
              <a:ext uri="{FF2B5EF4-FFF2-40B4-BE49-F238E27FC236}">
                <a16:creationId xmlns:a16="http://schemas.microsoft.com/office/drawing/2014/main" id="{92FF59D7-25B9-4789-86C8-D4D0C533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43425"/>
            <a:ext cx="28575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93ABB7"/>
            </a:solidFill>
            <a:prstDash val="solid"/>
          </a:ln>
        </p:spPr>
      </p:sp>
      <p:sp>
        <p:nvSpPr>
          <p:cNvPr id="18" name="chemical-label">
            <a:extLst xmlns:a="http://schemas.openxmlformats.org/drawingml/2006/main">
              <a:ext uri="{FF2B5EF4-FFF2-40B4-BE49-F238E27FC236}">
                <a16:creationId xmlns:a16="http://schemas.microsoft.com/office/drawing/2014/main" id="{C75094D7-18D1-4508-A6F9-279518DC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화학공학</a:t>
            </a:r>
          </a:p>
        </p:txBody>
      </p:sp>
      <p:sp>
        <p:nvSpPr>
          <p:cNvPr id="19" name="chemical-body">
            <a:extLst xmlns:a="http://schemas.openxmlformats.org/drawingml/2006/main">
              <a:ext uri="{FF2B5EF4-FFF2-40B4-BE49-F238E27FC236}">
                <a16:creationId xmlns:a16="http://schemas.microsoft.com/office/drawing/2014/main" id="{40069911-C57D-4B45-BE58-0A06E589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5302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공정 데이터·계산모델</a:t>
            </a:r>
          </a:p>
        </p:txBody>
      </p:sp>
      <p:sp>
        <p:nvSpPr>
          <p:cNvPr id="20" name="data-science">
            <a:extLst xmlns:a="http://schemas.openxmlformats.org/drawingml/2006/main">
              <a:ext uri="{FF2B5EF4-FFF2-40B4-BE49-F238E27FC236}">
                <a16:creationId xmlns:a16="http://schemas.microsoft.com/office/drawing/2014/main" id="{2403D10A-E22D-43E5-8763-1AC70E93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8575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93ABB7"/>
            </a:solidFill>
            <a:prstDash val="solid"/>
          </a:ln>
        </p:spPr>
      </p:sp>
      <p:sp>
        <p:nvSpPr>
          <p:cNvPr id="21" name="data-science-label">
            <a:extLst xmlns:a="http://schemas.openxmlformats.org/drawingml/2006/main">
              <a:ext uri="{FF2B5EF4-FFF2-40B4-BE49-F238E27FC236}">
                <a16:creationId xmlns:a16="http://schemas.microsoft.com/office/drawing/2014/main" id="{207E81C1-AB98-4B95-A373-170F2248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050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데이터사이언스</a:t>
            </a:r>
          </a:p>
        </p:txBody>
      </p:sp>
      <p:sp>
        <p:nvSpPr>
          <p:cNvPr id="22" name="data-science-body">
            <a:extLst xmlns:a="http://schemas.openxmlformats.org/drawingml/2006/main">
              <a:ext uri="{FF2B5EF4-FFF2-40B4-BE49-F238E27FC236}">
                <a16:creationId xmlns:a16="http://schemas.microsoft.com/office/drawing/2014/main" id="{B1DC2D22-FF6B-4525-A1A8-525559BE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5272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분석·모델</a:t>
            </a:r>
          </a:p>
        </p:txBody>
      </p:sp>
      <p:sp>
        <p:nvSpPr>
          <p:cNvPr id="23" name="hci">
            <a:extLst xmlns:a="http://schemas.openxmlformats.org/drawingml/2006/main">
              <a:ext uri="{FF2B5EF4-FFF2-40B4-BE49-F238E27FC236}">
                <a16:creationId xmlns:a16="http://schemas.microsoft.com/office/drawing/2014/main" id="{ABDF417E-AF7A-40BF-988F-3FE3E0E7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52875"/>
            <a:ext cx="2857500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93ABB7"/>
            </a:solidFill>
            <a:prstDash val="solid"/>
          </a:ln>
        </p:spPr>
      </p:sp>
      <p:sp>
        <p:nvSpPr>
          <p:cNvPr id="24" name="hci-label">
            <a:extLst xmlns:a="http://schemas.openxmlformats.org/drawingml/2006/main">
              <a:ext uri="{FF2B5EF4-FFF2-40B4-BE49-F238E27FC236}">
                <a16:creationId xmlns:a16="http://schemas.microsoft.com/office/drawing/2014/main" id="{73D59466-9BFB-4EFF-B156-E41D6D95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1480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HCI</a:t>
            </a:r>
          </a:p>
        </p:txBody>
      </p:sp>
      <p:sp>
        <p:nvSpPr>
          <p:cNvPr id="25" name="hci-body">
            <a:extLst xmlns:a="http://schemas.openxmlformats.org/drawingml/2006/main">
              <a:ext uri="{FF2B5EF4-FFF2-40B4-BE49-F238E27FC236}">
                <a16:creationId xmlns:a16="http://schemas.microsoft.com/office/drawing/2014/main" id="{0F3AFE2D-C948-4B0D-91C9-CE1DAB78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62475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사용자 요구·평가</a:t>
            </a:r>
          </a:p>
        </p:txBody>
      </p:sp>
      <p:sp>
        <p:nvSpPr>
          <p:cNvPr id="26" name="cooperation-note">
            <a:extLst xmlns:a="http://schemas.openxmlformats.org/drawingml/2006/main">
              <a:ext uri="{FF2B5EF4-FFF2-40B4-BE49-F238E27FC236}">
                <a16:creationId xmlns:a16="http://schemas.microsoft.com/office/drawing/2014/main" id="{D9CC4A65-402F-4634-85D9-7E9E792D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150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1725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1725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1725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1725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1725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1725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1725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1725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1725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536A78"/>
                </a:solidFill>
                <a:latin typeface="NanumGothic"/>
                <a:ea typeface="NanumGothic"/>
                <a:cs typeface="NanumGothic"/>
              </a:rPr>
              <a:t>공동 프로젝트를 위한 협력 제안이며, 각 전공의 역할은 상호보완적으로 조정</a:t>
            </a:r>
          </a:p>
        </p:txBody>
      </p:sp>
    </p:spTree>
    <p:extLst>
      <p:ext uri="{BB962C8B-B14F-4D97-AF65-F5344CB8AC3E}">
        <p14:creationId xmlns:p14="http://schemas.microsoft.com/office/powerpoint/2010/main" val="4268910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267325" y="3100388"/>
            <a:ext cx="16573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7F82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3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30FAB753-2458-45A0-AC60-7CC2AB6B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그림 3-3. AI 활용 확대와 융합교육의 단계적 추진</a:t>
            </a:r>
          </a:p>
        </p:txBody>
      </p:sp>
      <p:sp>
        <p:nvSpPr>
          <p:cNvPr id="4" name="stage-one">
            <a:extLst xmlns:a="http://schemas.openxmlformats.org/drawingml/2006/main">
              <a:ext uri="{FF2B5EF4-FFF2-40B4-BE49-F238E27FC236}">
                <a16:creationId xmlns:a16="http://schemas.microsoft.com/office/drawing/2014/main" id="{F8DB664E-14DB-4438-AE7E-FE42FA8A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0175"/>
            <a:ext cx="4524375" cy="340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93ABB7"/>
            </a:solidFill>
            <a:prstDash val="solid"/>
          </a:ln>
        </p:spPr>
      </p:sp>
      <p:sp>
        <p:nvSpPr>
          <p:cNvPr id="5" name="stage-two">
            <a:extLst xmlns:a="http://schemas.openxmlformats.org/drawingml/2006/main">
              <a:ext uri="{FF2B5EF4-FFF2-40B4-BE49-F238E27FC236}">
                <a16:creationId xmlns:a16="http://schemas.microsoft.com/office/drawing/2014/main" id="{F0FD3FE6-864C-4773-8F74-6791333D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400175"/>
            <a:ext cx="4524375" cy="3400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23813">
            <a:solidFill>
              <a:srgbClr val="007F82"/>
            </a:solidFill>
            <a:prstDash val="solid"/>
          </a:ln>
        </p:spPr>
      </p:sp>
      <p:sp>
        <p:nvSpPr>
          <p:cNvPr id="6" name="stage-one-number">
            <a:extLst xmlns:a="http://schemas.openxmlformats.org/drawingml/2006/main">
              <a:ext uri="{FF2B5EF4-FFF2-40B4-BE49-F238E27FC236}">
                <a16:creationId xmlns:a16="http://schemas.microsoft.com/office/drawing/2014/main" id="{645FE2AB-34C9-4985-8D4B-4AAB3D67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81150"/>
            <a:ext cx="4029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rPr>
              <a:t>1단계</a:t>
            </a:r>
          </a:p>
        </p:txBody>
      </p:sp>
      <p:sp>
        <p:nvSpPr>
          <p:cNvPr id="7" name="stage-one-title">
            <a:extLst xmlns:a="http://schemas.openxmlformats.org/drawingml/2006/main">
              <a:ext uri="{FF2B5EF4-FFF2-40B4-BE49-F238E27FC236}">
                <a16:creationId xmlns:a16="http://schemas.microsoft.com/office/drawing/2014/main" id="{03D65F82-DD11-4F70-A4E3-9646926F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4029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기존 교육의 AI 활용 확대</a:t>
            </a:r>
          </a:p>
        </p:txBody>
      </p:sp>
      <p:sp>
        <p:nvSpPr>
          <p:cNvPr id="8" name="stage-one-fields">
            <a:extLst xmlns:a="http://schemas.openxmlformats.org/drawingml/2006/main">
              <a:ext uri="{FF2B5EF4-FFF2-40B4-BE49-F238E27FC236}">
                <a16:creationId xmlns:a16="http://schemas.microsoft.com/office/drawing/2014/main" id="{24F51846-453F-4D1A-B9C8-C9A1169C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4625"/>
            <a:ext cx="4029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웹·모바일·빅데이터·정보보안</a:t>
            </a:r>
          </a:p>
        </p:txBody>
      </p:sp>
      <p:sp>
        <p:nvSpPr>
          <p:cNvPr id="9" name="stage-one-actions">
            <a:extLst xmlns:a="http://schemas.openxmlformats.org/drawingml/2006/main">
              <a:ext uri="{FF2B5EF4-FFF2-40B4-BE49-F238E27FC236}">
                <a16:creationId xmlns:a16="http://schemas.microsoft.com/office/drawing/2014/main" id="{C9434583-A2EB-405B-ADD4-215F726C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40290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195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195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195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195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195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195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195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195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195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950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AI 기능과 개발 도구 활용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950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결과 검증과 오류 수정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950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작은 서비스의 구현</a:t>
            </a:r>
          </a:p>
        </p:txBody>
      </p:sp>
      <p:sp>
        <p:nvSpPr>
          <p:cNvPr id="10" name="stage-two-number">
            <a:extLst xmlns:a="http://schemas.openxmlformats.org/drawingml/2006/main">
              <a:ext uri="{FF2B5EF4-FFF2-40B4-BE49-F238E27FC236}">
                <a16:creationId xmlns:a16="http://schemas.microsoft.com/office/drawing/2014/main" id="{A95C57C0-3766-4167-B05F-29CD7E82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581150"/>
            <a:ext cx="4029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007F82"/>
                </a:solidFill>
                <a:latin typeface="NanumGothic"/>
                <a:ea typeface="NanumGothic"/>
                <a:cs typeface="NanumGothic"/>
              </a:rPr>
              <a:t>2단계</a:t>
            </a:r>
          </a:p>
        </p:txBody>
      </p:sp>
      <p:sp>
        <p:nvSpPr>
          <p:cNvPr id="11" name="stage-two-title">
            <a:extLst xmlns:a="http://schemas.openxmlformats.org/drawingml/2006/main">
              <a:ext uri="{FF2B5EF4-FFF2-40B4-BE49-F238E27FC236}">
                <a16:creationId xmlns:a16="http://schemas.microsoft.com/office/drawing/2014/main" id="{66BC092F-C413-4BBF-8929-8E0D08ED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076450"/>
            <a:ext cx="4029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융합교육의 공동 프로젝트</a:t>
            </a:r>
          </a:p>
        </p:txBody>
      </p:sp>
      <p:sp>
        <p:nvSpPr>
          <p:cNvPr id="12" name="stage-two-time">
            <a:extLst xmlns:a="http://schemas.openxmlformats.org/drawingml/2006/main">
              <a:ext uri="{FF2B5EF4-FFF2-40B4-BE49-F238E27FC236}">
                <a16:creationId xmlns:a16="http://schemas.microsoft.com/office/drawing/2014/main" id="{DA4FDFAD-F39A-4BED-8BBD-394B907D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647950"/>
            <a:ext cx="4029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1725" b="0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1725" b="0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1725" b="0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1725" b="0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1725" b="0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1725" b="0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1725" b="0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1725" b="0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1725" b="0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007F82"/>
                </a:solidFill>
                <a:latin typeface="NanumGothic"/>
                <a:ea typeface="NanumGothic"/>
                <a:cs typeface="NanumGothic"/>
              </a:rPr>
              <a:t>2029년 신설 계획 구체화에 맞춰</a:t>
            </a:r>
          </a:p>
        </p:txBody>
      </p:sp>
      <p:sp>
        <p:nvSpPr>
          <p:cNvPr id="13" name="stage-two-fields">
            <a:extLst xmlns:a="http://schemas.openxmlformats.org/drawingml/2006/main">
              <a:ext uri="{FF2B5EF4-FFF2-40B4-BE49-F238E27FC236}">
                <a16:creationId xmlns:a16="http://schemas.microsoft.com/office/drawing/2014/main" id="{48185DA2-9609-4A93-9874-FFD86967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162300"/>
            <a:ext cx="40290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전자공학·기계공학·화학공학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데이터사이언스·HCI</a:t>
            </a:r>
          </a:p>
        </p:txBody>
      </p:sp>
      <p:sp>
        <p:nvSpPr>
          <p:cNvPr id="14" name="stage-two-actions">
            <a:extLst xmlns:a="http://schemas.openxmlformats.org/drawingml/2006/main">
              <a:ext uri="{FF2B5EF4-FFF2-40B4-BE49-F238E27FC236}">
                <a16:creationId xmlns:a16="http://schemas.microsoft.com/office/drawing/2014/main" id="{153BBAD6-0244-4AD5-9C27-12F600C7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067175"/>
            <a:ext cx="4029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공동 문제 선정과 팀 프로젝트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실행·운영 결과의 공동 평가</a:t>
            </a:r>
          </a:p>
        </p:txBody>
      </p:sp>
      <p:sp>
        <p:nvSpPr>
          <p:cNvPr id="15" name="shared-foundations">
            <a:extLst xmlns:a="http://schemas.openxmlformats.org/drawingml/2006/main">
              <a:ext uri="{FF2B5EF4-FFF2-40B4-BE49-F238E27FC236}">
                <a16:creationId xmlns:a16="http://schemas.microsoft.com/office/drawing/2014/main" id="{5AF736A4-D5B0-429A-A104-4112B28B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81625"/>
            <a:ext cx="1070610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A"/>
          </a:solidFill>
          <a:ln xmlns:a="http://schemas.openxmlformats.org/drawingml/2006/main" w="0">
            <a:solidFill>
              <a:srgbClr val="16324A"/>
            </a:solidFill>
            <a:prstDash val="solid"/>
          </a:ln>
        </p:spPr>
      </p:sp>
      <p:sp>
        <p:nvSpPr>
          <p:cNvPr id="16" name="shared-foundations-label">
            <a:extLst xmlns:a="http://schemas.openxmlformats.org/drawingml/2006/main">
              <a:ext uri="{FF2B5EF4-FFF2-40B4-BE49-F238E27FC236}">
                <a16:creationId xmlns:a16="http://schemas.microsoft.com/office/drawing/2014/main" id="{49A07102-E9F4-4912-A1B5-C5C0CB2B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43550"/>
            <a:ext cx="2686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21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21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21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21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21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21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21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21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21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21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전 단계 공통 기반</a:t>
            </a:r>
          </a:p>
        </p:txBody>
      </p:sp>
      <p:sp>
        <p:nvSpPr>
          <p:cNvPr id="17" name="shared-foundations-text">
            <a:extLst xmlns:a="http://schemas.openxmlformats.org/drawingml/2006/main">
              <a:ext uri="{FF2B5EF4-FFF2-40B4-BE49-F238E27FC236}">
                <a16:creationId xmlns:a16="http://schemas.microsoft.com/office/drawing/2014/main" id="{A0367522-3AAE-4466-B3AE-8A3D7AB21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514975"/>
            <a:ext cx="704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l">
              <a:buNone/>
              <a:defRPr sz="1800" b="0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1800" b="0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1800" b="0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1800" b="0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1800" b="0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1800" b="0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1800" b="0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1800" b="0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1800" b="0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컴퓨터학 기초와 개인 역량 평가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학습 성과에 따른 개선</a:t>
            </a:r>
          </a:p>
        </p:txBody>
      </p:sp>
      <p:sp>
        <p:nvSpPr>
          <p:cNvPr id="18" name="stage-condition">
            <a:extLst xmlns:a="http://schemas.openxmlformats.org/drawingml/2006/main">
              <a:ext uri="{FF2B5EF4-FFF2-40B4-BE49-F238E27FC236}">
                <a16:creationId xmlns:a16="http://schemas.microsoft.com/office/drawing/2014/main" id="{DF5B21F2-9B1E-4DD6-AFF3-21967075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5795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1500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1500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1500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1500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1500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1500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1500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1500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1500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36A78"/>
                </a:solidFill>
                <a:latin typeface="NanumGothic"/>
                <a:ea typeface="NanumGothic"/>
                <a:cs typeface="NanumGothic"/>
              </a:defRPr>
            </a:pPr>
            <a:r>
              <a:rPr sz="1500" b="0">
                <a:solidFill>
                  <a:srgbClr val="536A78"/>
                </a:solidFill>
                <a:latin typeface="NanumGothic"/>
                <a:ea typeface="NanumGothic"/>
                <a:cs typeface="NanumGothic"/>
              </a:rPr>
              <a:t>협력 범위와 시행 시기는 각 전공의 개설·운영 여건에 따라 조정</a:t>
            </a:r>
          </a:p>
        </p:txBody>
      </p:sp>
    </p:spTree>
    <p:extLst>
      <p:ext uri="{BB962C8B-B14F-4D97-AF65-F5344CB8AC3E}">
        <p14:creationId xmlns:p14="http://schemas.microsoft.com/office/powerpoint/2010/main" val="370337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/>
          <p:cNvCxnSpPr>
            <a:stCxn xmlns:a="http://schemas.openxmlformats.org/drawingml/2006/main" id="20" idx="1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 flipV="1">
            <a:off x="1714500" y="3352800"/>
            <a:ext cx="1809750" cy="1533525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007F8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17" idx="2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8667750" y="3352800"/>
            <a:ext cx="1619250" cy="1533525"/>
          </a:xfrm>
          <a:prstGeom xmlns:a="http://schemas.openxmlformats.org/drawingml/2006/main" prst="bentConnector5">
            <a:avLst>
              <a:gd name="adj1" fmla="val 0"/>
              <a:gd name="adj2" fmla="val 14907"/>
              <a:gd name="adj3" fmla="val 85882"/>
            </a:avLst>
          </a:prstGeom>
          <a:ln xmlns:a="http://schemas.openxmlformats.org/drawingml/2006/main" w="28575">
            <a:solidFill>
              <a:srgbClr val="007F8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9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572500" y="25574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F8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0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15000" y="25574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F82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57500" y="25574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7F82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7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E895C2FA-88CC-44F3-8B04-138A4964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850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그림 3-4. AI 서비스의 구현·운영과 평가</a:t>
            </a:r>
          </a:p>
        </p:txBody>
      </p:sp>
      <p:sp>
        <p:nvSpPr>
          <p:cNvPr id="8" name="data">
            <a:extLst xmlns:a="http://schemas.openxmlformats.org/drawingml/2006/main">
              <a:ext uri="{FF2B5EF4-FFF2-40B4-BE49-F238E27FC236}">
                <a16:creationId xmlns:a16="http://schemas.microsoft.com/office/drawing/2014/main" id="{952F5C26-0777-41C2-86A5-EC1F1088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2286000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93ABB7"/>
            </a:solidFill>
            <a:prstDash val="solid"/>
          </a:ln>
        </p:spPr>
      </p:sp>
      <p:sp>
        <p:nvSpPr>
          <p:cNvPr id="9" name="data-title">
            <a:extLst xmlns:a="http://schemas.openxmlformats.org/drawingml/2006/main">
              <a:ext uri="{FF2B5EF4-FFF2-40B4-BE49-F238E27FC236}">
                <a16:creationId xmlns:a16="http://schemas.microsoft.com/office/drawing/2014/main" id="{94AE697A-CEF5-4D69-B4D4-5F180426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데이터·검색</a:t>
            </a:r>
          </a:p>
        </p:txBody>
      </p:sp>
      <p:sp>
        <p:nvSpPr>
          <p:cNvPr id="10" name="data-body">
            <a:extLst xmlns:a="http://schemas.openxmlformats.org/drawingml/2006/main">
              <a:ext uri="{FF2B5EF4-FFF2-40B4-BE49-F238E27FC236}">
                <a16:creationId xmlns:a16="http://schemas.microsoft.com/office/drawing/2014/main" id="{B4879600-CE04-441A-8B62-10F4075F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01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수집·정제·색인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출처·접근권한</a:t>
            </a:r>
          </a:p>
        </p:txBody>
      </p:sp>
      <p:sp>
        <p:nvSpPr>
          <p:cNvPr id="11" name="model">
            <a:extLst xmlns:a="http://schemas.openxmlformats.org/drawingml/2006/main">
              <a:ext uri="{FF2B5EF4-FFF2-40B4-BE49-F238E27FC236}">
                <a16:creationId xmlns:a16="http://schemas.microsoft.com/office/drawing/2014/main" id="{D00E9977-1DA4-4C3F-AE77-FA625726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62125"/>
            <a:ext cx="2286000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14288">
            <a:solidFill>
              <a:srgbClr val="007F82"/>
            </a:solidFill>
            <a:prstDash val="solid"/>
          </a:ln>
        </p:spPr>
      </p:sp>
      <p:sp>
        <p:nvSpPr>
          <p:cNvPr id="12" name="model-title">
            <a:extLst xmlns:a="http://schemas.openxmlformats.org/drawingml/2006/main">
              <a:ext uri="{FF2B5EF4-FFF2-40B4-BE49-F238E27FC236}">
                <a16:creationId xmlns:a16="http://schemas.microsoft.com/office/drawing/2014/main" id="{3F49C3F7-0C60-483E-A8F7-8BFD103B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621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모델 선택·실행</a:t>
            </a:r>
          </a:p>
        </p:txBody>
      </p:sp>
      <p:sp>
        <p:nvSpPr>
          <p:cNvPr id="13" name="model-body">
            <a:extLst xmlns:a="http://schemas.openxmlformats.org/drawingml/2006/main">
              <a:ext uri="{FF2B5EF4-FFF2-40B4-BE49-F238E27FC236}">
                <a16:creationId xmlns:a16="http://schemas.microsoft.com/office/drawing/2014/main" id="{7088C41C-A1E6-4855-9D6B-7B8073D7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09850"/>
            <a:ext cx="201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모델·장치 선택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실행·자원 관리</a:t>
            </a:r>
          </a:p>
        </p:txBody>
      </p:sp>
      <p:sp>
        <p:nvSpPr>
          <p:cNvPr id="14" name="deployment">
            <a:extLst xmlns:a="http://schemas.openxmlformats.org/drawingml/2006/main">
              <a:ext uri="{FF2B5EF4-FFF2-40B4-BE49-F238E27FC236}">
                <a16:creationId xmlns:a16="http://schemas.microsoft.com/office/drawing/2014/main" id="{A50082ED-3A54-45A1-87A7-2CADB00C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2286000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93ABB7"/>
            </a:solidFill>
            <a:prstDash val="solid"/>
          </a:ln>
        </p:spPr>
      </p:sp>
      <p:sp>
        <p:nvSpPr>
          <p:cNvPr id="15" name="deployment-title">
            <a:extLst xmlns:a="http://schemas.openxmlformats.org/drawingml/2006/main">
              <a:ext uri="{FF2B5EF4-FFF2-40B4-BE49-F238E27FC236}">
                <a16:creationId xmlns:a16="http://schemas.microsoft.com/office/drawing/2014/main" id="{E4FEBA3F-E832-4A10-B930-BAACA99F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서비스 배포</a:t>
            </a:r>
          </a:p>
        </p:txBody>
      </p:sp>
      <p:sp>
        <p:nvSpPr>
          <p:cNvPr id="16" name="deployment-body">
            <a:extLst xmlns:a="http://schemas.openxmlformats.org/drawingml/2006/main">
              <a:ext uri="{FF2B5EF4-FFF2-40B4-BE49-F238E27FC236}">
                <a16:creationId xmlns:a16="http://schemas.microsoft.com/office/drawing/2014/main" id="{3F16B8A4-2F20-4950-AC9A-AD5F1DA8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201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API·서비스 구성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배포·버전 관리</a:t>
            </a:r>
          </a:p>
        </p:txBody>
      </p:sp>
      <p:sp>
        <p:nvSpPr>
          <p:cNvPr id="17" name="usage">
            <a:extLst xmlns:a="http://schemas.openxmlformats.org/drawingml/2006/main">
              <a:ext uri="{FF2B5EF4-FFF2-40B4-BE49-F238E27FC236}">
                <a16:creationId xmlns:a16="http://schemas.microsoft.com/office/drawing/2014/main" id="{CB678006-4555-4361-9DAC-E5CFEECF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62125"/>
            <a:ext cx="2286000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7"/>
          </a:solidFill>
          <a:ln xmlns:a="http://schemas.openxmlformats.org/drawingml/2006/main" w="14288">
            <a:solidFill>
              <a:srgbClr val="93ABB7"/>
            </a:solidFill>
            <a:prstDash val="solid"/>
          </a:ln>
        </p:spPr>
      </p:sp>
      <p:sp>
        <p:nvSpPr>
          <p:cNvPr id="18" name="usage-title">
            <a:extLst xmlns:a="http://schemas.openxmlformats.org/drawingml/2006/main">
              <a:ext uri="{FF2B5EF4-FFF2-40B4-BE49-F238E27FC236}">
                <a16:creationId xmlns:a16="http://schemas.microsoft.com/office/drawing/2014/main" id="{0ED3571F-4992-48D0-B55C-6C88AF89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621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사용자·장치</a:t>
            </a:r>
          </a:p>
        </p:txBody>
      </p:sp>
      <p:sp>
        <p:nvSpPr>
          <p:cNvPr id="19" name="usage-body">
            <a:extLst xmlns:a="http://schemas.openxmlformats.org/drawingml/2006/main">
              <a:ext uri="{FF2B5EF4-FFF2-40B4-BE49-F238E27FC236}">
                <a16:creationId xmlns:a16="http://schemas.microsoft.com/office/drawing/2014/main" id="{24F1C4A1-0576-44BF-953C-A2C5E540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09850"/>
            <a:ext cx="2019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사용·동작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725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결과·오류 피드백</a:t>
            </a:r>
          </a:p>
        </p:txBody>
      </p:sp>
      <p:sp>
        <p:nvSpPr>
          <p:cNvPr id="20" name="observation">
            <a:extLst xmlns:a="http://schemas.openxmlformats.org/drawingml/2006/main">
              <a:ext uri="{FF2B5EF4-FFF2-40B4-BE49-F238E27FC236}">
                <a16:creationId xmlns:a16="http://schemas.microsoft.com/office/drawing/2014/main" id="{B2E1B678-1C43-4577-B85A-F2F59A98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71975"/>
            <a:ext cx="514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23813">
            <a:solidFill>
              <a:srgbClr val="007F82"/>
            </a:solidFill>
            <a:prstDash val="solid"/>
          </a:ln>
        </p:spPr>
      </p:sp>
      <p:sp>
        <p:nvSpPr>
          <p:cNvPr id="21" name="observation-title">
            <a:extLst xmlns:a="http://schemas.openxmlformats.org/drawingml/2006/main">
              <a:ext uri="{FF2B5EF4-FFF2-40B4-BE49-F238E27FC236}">
                <a16:creationId xmlns:a16="http://schemas.microsoft.com/office/drawing/2014/main" id="{E5349D80-ECF6-4586-81C1-018929BA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148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defRPr>
            </a:pPr>
            <a:r>
              <a:rPr sz="2175" b="1">
                <a:solidFill>
                  <a:srgbClr val="16324A"/>
                </a:solidFill>
                <a:latin typeface="NanumGothic"/>
                <a:ea typeface="NanumGothic"/>
                <a:cs typeface="NanumGothic"/>
              </a:rPr>
              <a:t>운영 관측과 개선</a:t>
            </a:r>
          </a:p>
        </p:txBody>
      </p:sp>
      <p:sp>
        <p:nvSpPr>
          <p:cNvPr id="22" name="observation-body">
            <a:extLst xmlns:a="http://schemas.openxmlformats.org/drawingml/2006/main">
              <a:ext uri="{FF2B5EF4-FFF2-40B4-BE49-F238E27FC236}">
                <a16:creationId xmlns:a16="http://schemas.microsoft.com/office/drawing/2014/main" id="{C214F6CF-C435-4868-9681-A3C9EEE8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91100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defRPr>
            </a:pPr>
            <a:r>
              <a:rPr sz="1800" b="0">
                <a:solidFill>
                  <a:srgbClr val="233F50"/>
                </a:solidFill>
                <a:latin typeface="NanumGothic"/>
                <a:ea typeface="NanumGothic"/>
                <a:cs typeface="NanumGothic"/>
              </a:rPr>
              <a:t>품질·지연·오류 기록, 재현과 수정</a:t>
            </a:r>
          </a:p>
        </p:txBody>
      </p:sp>
      <p:sp>
        <p:nvSpPr>
          <p:cNvPr id="23" name="feedback-label">
            <a:extLst xmlns:a="http://schemas.openxmlformats.org/drawingml/2006/main">
              <a:ext uri="{FF2B5EF4-FFF2-40B4-BE49-F238E27FC236}">
                <a16:creationId xmlns:a16="http://schemas.microsoft.com/office/drawing/2014/main" id="{144B1016-6754-496E-B2C1-B7F9BF68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l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1pPr>
            <a:lvl2pPr algn="l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2pPr>
            <a:lvl3pPr algn="l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3pPr>
            <a:lvl4pPr algn="l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4pPr>
            <a:lvl5pPr algn="l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5pPr>
            <a:lvl6pPr algn="l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6pPr>
            <a:lvl7pPr algn="l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7pPr>
            <a:lvl8pPr algn="l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8pPr>
            <a:lvl9pPr algn="l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rPr>
              <a:t>수정·재배포</a:t>
            </a:r>
          </a:p>
        </p:txBody>
      </p:sp>
      <p:sp>
        <p:nvSpPr>
          <p:cNvPr id="24" name="telemetry-label">
            <a:extLst xmlns:a="http://schemas.openxmlformats.org/drawingml/2006/main">
              <a:ext uri="{FF2B5EF4-FFF2-40B4-BE49-F238E27FC236}">
                <a16:creationId xmlns:a16="http://schemas.microsoft.com/office/drawing/2014/main" id="{07A1BBA0-2EAB-4132-A94B-8E7E5D7B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algn="r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1pPr>
            <a:lvl2pPr algn="r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2pPr>
            <a:lvl3pPr algn="r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3pPr>
            <a:lvl4pPr algn="r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4pPr>
            <a:lvl5pPr algn="r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5pPr>
            <a:lvl6pPr algn="r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6pPr>
            <a:lvl7pPr algn="r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7pPr>
            <a:lvl8pPr algn="r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8pPr>
            <a:lvl9pPr algn="r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r">
              <a:buNone/>
              <a:def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defRPr>
            </a:pPr>
            <a:r>
              <a:rPr sz="1800" b="1">
                <a:solidFill>
                  <a:srgbClr val="007F82"/>
                </a:solidFill>
                <a:latin typeface="NanumGothic"/>
                <a:ea typeface="NanumGothic"/>
                <a:cs typeface="NanumGothic"/>
              </a:rPr>
              <a:t>운영 데이터</a:t>
            </a:r>
          </a:p>
        </p:txBody>
      </p:sp>
      <p:sp>
        <p:nvSpPr>
          <p:cNvPr id="25" name="evaluation-bar">
            <a:extLst xmlns:a="http://schemas.openxmlformats.org/drawingml/2006/main">
              <a:ext uri="{FF2B5EF4-FFF2-40B4-BE49-F238E27FC236}">
                <a16:creationId xmlns:a16="http://schemas.microsoft.com/office/drawing/2014/main" id="{C4E4CC5E-8D9B-482E-A060-0E0FBA1A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0858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A"/>
          </a:solidFill>
          <a:ln xmlns:a="http://schemas.openxmlformats.org/drawingml/2006/main" w="0">
            <a:solidFill>
              <a:srgbClr val="16324A"/>
            </a:solidFill>
            <a:prstDash val="solid"/>
          </a:ln>
        </p:spPr>
      </p:sp>
      <p:sp>
        <p:nvSpPr>
          <p:cNvPr id="26" name="evaluation-text">
            <a:extLst xmlns:a="http://schemas.openxmlformats.org/drawingml/2006/main">
              <a:ext uri="{FF2B5EF4-FFF2-40B4-BE49-F238E27FC236}">
                <a16:creationId xmlns:a16="http://schemas.microsoft.com/office/drawing/2014/main" id="{55A45A27-3134-43FE-8EF5-EBCA788C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38850"/>
            <a:ext cx="10515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lvl1pPr algn="ctr">
              <a:buNone/>
              <a:defRPr sz="20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1pPr>
            <a:lvl2pPr algn="ctr">
              <a:buNone/>
              <a:defRPr sz="20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2pPr>
            <a:lvl3pPr algn="ctr">
              <a:buNone/>
              <a:defRPr sz="20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3pPr>
            <a:lvl4pPr algn="ctr">
              <a:buNone/>
              <a:defRPr sz="20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4pPr>
            <a:lvl5pPr algn="ctr">
              <a:buNone/>
              <a:defRPr sz="20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5pPr>
            <a:lvl6pPr algn="ctr">
              <a:buNone/>
              <a:defRPr sz="20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6pPr>
            <a:lvl7pPr algn="ctr">
              <a:buNone/>
              <a:defRPr sz="20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7pPr>
            <a:lvl8pPr algn="ctr">
              <a:buNone/>
              <a:defRPr sz="20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8pPr>
            <a:lvl9pPr algn="ctr">
              <a:buNone/>
              <a:defRPr sz="20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NanumGothic"/>
                <a:ea typeface="NanumGothic"/>
                <a:cs typeface="NanumGothic"/>
              </a:defRPr>
            </a:pPr>
            <a:r>
              <a:rPr sz="2025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전 과정에서 성능·신뢰성·보안을 검증</a:t>
            </a:r>
          </a:p>
        </p:txBody>
      </p:sp>
    </p:spTree>
    <p:extLst>
      <p:ext uri="{BB962C8B-B14F-4D97-AF65-F5344CB8AC3E}">
        <p14:creationId xmlns:p14="http://schemas.microsoft.com/office/powerpoint/2010/main" val="2126241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2026-10-25T10:21:17.8400000Z</dcterms:created>
  <dcterms:modified xsi:type="dcterms:W3CDTF">2026-10-25T10:21:17.8400000Z</dcterms:modified>
</coreProperties>
</file>